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8" r:id="rId4"/>
    <p:sldId id="258" r:id="rId5"/>
    <p:sldId id="271" r:id="rId6"/>
    <p:sldId id="259" r:id="rId7"/>
    <p:sldId id="279" r:id="rId8"/>
    <p:sldId id="289" r:id="rId9"/>
    <p:sldId id="280" r:id="rId10"/>
    <p:sldId id="260" r:id="rId11"/>
    <p:sldId id="281" r:id="rId12"/>
    <p:sldId id="272" r:id="rId13"/>
    <p:sldId id="261" r:id="rId14"/>
    <p:sldId id="290" r:id="rId15"/>
    <p:sldId id="262" r:id="rId16"/>
    <p:sldId id="282" r:id="rId17"/>
    <p:sldId id="283" r:id="rId18"/>
    <p:sldId id="291" r:id="rId19"/>
    <p:sldId id="273" r:id="rId20"/>
    <p:sldId id="284" r:id="rId21"/>
    <p:sldId id="263" r:id="rId22"/>
    <p:sldId id="285" r:id="rId23"/>
    <p:sldId id="264" r:id="rId24"/>
    <p:sldId id="277" r:id="rId25"/>
    <p:sldId id="274" r:id="rId26"/>
    <p:sldId id="286" r:id="rId27"/>
    <p:sldId id="265" r:id="rId28"/>
    <p:sldId id="287" r:id="rId29"/>
    <p:sldId id="266" r:id="rId30"/>
    <p:sldId id="276" r:id="rId31"/>
    <p:sldId id="269" r:id="rId32"/>
    <p:sldId id="275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10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432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33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2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80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69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53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09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01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00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78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9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49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0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4484" y="0"/>
            <a:ext cx="2296636" cy="5143500"/>
          </a:xfrm>
          <a:prstGeom prst="rect">
            <a:avLst/>
          </a:prstGeom>
          <a:solidFill>
            <a:srgbClr val="1565C0">
              <a:alpha val="28000"/>
            </a:srgb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II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Texturas  •  Color  •  Interpolación en Profundidad  •  W-Buffering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1097280" cy="54864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62838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González San Lucas </a:t>
            </a:r>
            <a:r>
              <a:rPr lang="en-US" sz="1500" i="1" dirty="0" err="1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Marielena</a:t>
            </a:r>
            <a:r>
              <a:rPr lang="en-US" sz="1500" i="1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Borja </a:t>
            </a:r>
            <a:r>
              <a:rPr lang="en-US" sz="1500" i="1" dirty="0" err="1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Simbaña</a:t>
            </a:r>
            <a:r>
              <a:rPr lang="en-US" sz="1500" i="1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Diego / Jami </a:t>
            </a:r>
            <a:r>
              <a:rPr lang="en-US" sz="1500" i="1" dirty="0" err="1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Chuqui</a:t>
            </a:r>
            <a:r>
              <a:rPr lang="en-US" sz="1500" i="1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Mateo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34440"/>
            <a:ext cx="73152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imágenes sobre superficies 3D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73152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606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en Gráficos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RGBA, mezcla y representación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29000"/>
            <a:ext cx="73152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703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en Profundidad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perspectiva en rasterización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34440"/>
            <a:ext cx="73152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W-Buffering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10912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al Z-Buffer para mayor precisión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31720"/>
            <a:ext cx="73152" cy="9144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2606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combinada en Java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47DFD6F9-94D2-482E-93F4-5D9017DC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6" y="101416"/>
            <a:ext cx="8896568" cy="49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5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TEXTURAS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Textura?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texturas en gráficos 3D son imágenes bidimensionales que se aplican sobre la superficie de objetos para simular detalles visuales (colores, patrones, rugosidad, etc.). 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2697480" cy="2606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12848"/>
            <a:ext cx="2697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679192"/>
            <a:ext cx="24871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3D se cubre con una o varias capas de textura; estas pueden ser patrones repetitivos o imágenes únicas diseñadas para el modelo, y su aplicación puede transformar formas simples en entornos realistas.</a:t>
            </a:r>
          </a:p>
          <a:p>
            <a:pPr marL="0" indent="0">
              <a:buNone/>
            </a:pPr>
            <a:endParaRPr lang="es-ES" sz="11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imágenes 2D (patrones, fotografías) como “piel” del objeto 3D.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12848"/>
            <a:ext cx="2697480" cy="2606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12848"/>
            <a:ext cx="269748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258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679192"/>
            <a:ext cx="24871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texturizar significa mapear coordenadas UV de cada vértice 3D a puntos de una imagen 2D, de modo que al rasterizar el triángulo se obtenga el color correcto de la textura en cada píxel. </a:t>
            </a:r>
          </a:p>
          <a:p>
            <a:pPr marL="0" indent="0">
              <a:buNone/>
            </a:pPr>
            <a:endParaRPr lang="es-ES" sz="11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de rasterizado se interpolan las coordenadas de textura (UV) y se muestrea el color en la imagen.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212848"/>
            <a:ext cx="2697480" cy="2606040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212848"/>
            <a:ext cx="269748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258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0488" y="2679192"/>
            <a:ext cx="248716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texturas aportan realismo al detalle superficial de los modelos, transmitiendo sensaciones de material mediante la capa superficial que “reviste” el objeto.</a:t>
            </a:r>
          </a:p>
          <a:p>
            <a:pPr marL="0" indent="0">
              <a:buNone/>
            </a:pPr>
            <a:endParaRPr lang="es-ES" sz="11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texturas pueden repetirse (</a:t>
            </a:r>
            <a:r>
              <a:rPr lang="es-E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tiling</a:t>
            </a: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 pintarse específicamente para cada modelo (únicas).</a:t>
            </a:r>
            <a:endParaRPr lang="en-US" sz="11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43A6F22-314A-4350-A54B-BC83884253BD}"/>
              </a:ext>
            </a:extLst>
          </p:cNvPr>
          <p:cNvSpPr/>
          <p:nvPr/>
        </p:nvSpPr>
        <p:spPr>
          <a:xfrm>
            <a:off x="457200" y="22357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TEXTURAS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164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6324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texturizado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324" y="1296444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Java, una textura se carga como una imagen 2D con </a:t>
            </a:r>
            <a:r>
              <a:rPr lang="es-E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BufferedImage</a:t>
            </a: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píxel de esa imagen se llama </a:t>
            </a:r>
            <a:r>
              <a:rPr lang="es-E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texel</a:t>
            </a: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selecciona usando coordenadas UV. Durante el rasterizado, esas coordenadas se interpolan y luego se usa </a:t>
            </a:r>
            <a:r>
              <a:rPr lang="es-E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getRGB</a:t>
            </a: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E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r>
              <a:rPr lang="es-E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obtener el color correcto y aplicarlo sobre el triángulo.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4884" y="46868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Java usamos BufferedImage para cargar y acceder a los texeles mediante getRGB(u, v).</a:t>
            </a:r>
            <a:endParaRPr lang="en-US" sz="11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EFBC1B5-A64E-4D05-9223-B010639A99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0"/>
          <a:stretch/>
        </p:blipFill>
        <p:spPr>
          <a:xfrm>
            <a:off x="429968" y="2101867"/>
            <a:ext cx="8225191" cy="25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7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TEXTURAS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164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Mapeo UV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0944" y="960120"/>
            <a:ext cx="1554480" cy="3383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3864" y="1051560"/>
            <a:ext cx="548640" cy="5486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864" y="10789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409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Textura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5808" y="21945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BufferedImage img =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ImageIO.read(file)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03712" y="2194560"/>
            <a:ext cx="201168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4024" y="960120"/>
            <a:ext cx="1554480" cy="3383280"/>
          </a:xfrm>
          <a:prstGeom prst="rect">
            <a:avLst/>
          </a:prstGeom>
          <a:solidFill>
            <a:srgbClr val="1E88E5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6944" y="1051560"/>
            <a:ext cx="548640" cy="5486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6944" y="10789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8717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UV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8888" y="21945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u, v ∈ [0.0 , 1.0]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cada vértice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6792" y="2194560"/>
            <a:ext cx="201168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7104" y="960120"/>
            <a:ext cx="1554480" cy="3383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00024" y="1051560"/>
            <a:ext cx="548640" cy="5486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0024" y="10789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7025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Texel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51968" y="21945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= u × (width−1)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= v × (height−1)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69872" y="2194560"/>
            <a:ext cx="201168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80184" y="960120"/>
            <a:ext cx="1554480" cy="3383280"/>
          </a:xfrm>
          <a:prstGeom prst="rect">
            <a:avLst/>
          </a:prstGeom>
          <a:solidFill>
            <a:srgbClr val="1E88E5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3104" y="1051560"/>
            <a:ext cx="548640" cy="5486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3104" y="10789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5333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Color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5048" y="21945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color =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img.getRGB(px, py)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52952" y="2194560"/>
            <a:ext cx="201168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3264" y="960120"/>
            <a:ext cx="1554480" cy="33832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6184" y="1051560"/>
            <a:ext cx="548640" cy="548640"/>
          </a:xfrm>
          <a:prstGeom prst="ellipse">
            <a:avLst/>
          </a:prstGeom>
          <a:solidFill>
            <a:srgbClr val="00B0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6184" y="10789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3641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Pintar Pixel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18128" y="21945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Aplicar color 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EB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píxel de pantalla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9080" y="4480560"/>
            <a:ext cx="859536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52628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= (int)(u * (img.getWidth()  - 1));   </a:t>
            </a: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= (int)(v * (img.getHeight() - 1));   </a:t>
            </a: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texel = img.getRGB(px, py);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TEXTURAS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164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Mapeo UV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52628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= (int)(u * (img.getWidth()  - 1));   </a:t>
            </a: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= (int)(v * (img.getHeight() - 1));   </a:t>
            </a: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texel = img.getRGB(px, py);</a:t>
            </a:r>
            <a:endParaRPr lang="en-US" sz="10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DFE703CD-1B2E-4C35-9F1B-075187F3E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75"/>
            <a:ext cx="9199742" cy="513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62318D-1BDA-4100-AD50-1D0BE182C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" y="0"/>
            <a:ext cx="91007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44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33"/>
          <p:cNvSpPr/>
          <p:nvPr/>
        </p:nvSpPr>
        <p:spPr>
          <a:xfrm>
            <a:off x="365760" y="452628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= (int)(u * (img.getWidth()  - 1));   </a:t>
            </a: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= (int)(v * (img.getHeight() - 1));   </a:t>
            </a: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texel = img.getRGB(px, py);</a:t>
            </a:r>
            <a:endParaRPr lang="en-US" sz="1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898C73-936C-4F6C-9893-B38DC659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11"/>
            <a:ext cx="9144000" cy="511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3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A44EF39-CEB6-4D4A-9109-539DE2241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3"/>
            <a:ext cx="9144000" cy="51186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COLOR EN GRÁFICOS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 Color RGBA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5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gráficos por computadora, el color de un objeto o píxel suele definirse en un espacio de color (por ejemplo RGB).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7394" y="1930755"/>
            <a:ext cx="8350845" cy="2651760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7394" y="1930755"/>
            <a:ext cx="8350845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122" y="2119654"/>
            <a:ext cx="8179484" cy="298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etapa de rasterización, los colores de los vértices de un triángulo se interpolan linealmente para obtener el color de cada píxel.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122" y="2734588"/>
            <a:ext cx="8179484" cy="1698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canalización gráfica interpola atributos de vértice —como color difuso o especular— a lo largo de los triángulos. </a:t>
            </a:r>
          </a:p>
          <a:p>
            <a:pPr marL="0" indent="0">
              <a:buNone/>
            </a:pP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en el sombreado Gouraud se calcula primero el color en cada vértice (resumiendo efectos de luz) y luego se aplica una interpolación lineal entre los tres vértices para colorear la superficie del triángulo. E</a:t>
            </a:r>
          </a:p>
          <a:p>
            <a:pPr marL="0" indent="0">
              <a:buNone/>
            </a:pP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modelo de color RGB, este proceso interpola por separado las componentes roja, verde y azul. </a:t>
            </a:r>
          </a:p>
          <a:p>
            <a:pPr marL="0" indent="0">
              <a:buNone/>
            </a:pPr>
            <a:endParaRPr lang="es-ES" sz="12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vértice puede llevar un color (RGB).</a:t>
            </a:r>
          </a:p>
          <a:p>
            <a:pPr marL="0" indent="0">
              <a:buNone/>
            </a:pP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rasterizado se interpolan los componentes de color a lo largo de la superficie (por ejemplo, Gouraud </a:t>
            </a:r>
            <a:r>
              <a:rPr lang="es-E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</a:t>
            </a: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r>
              <a:rPr lang="es-E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un degradado suave entre los colores de los vértices, creando efectos de sombreado.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408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COLOR EN GRÁFICOS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164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RGBA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 Color RGBA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píxel almacena 4 canales de 8 bits (0–255), empacados en un entero de 32 bits: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AA0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0001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Entero 32 bits:   [ A: bits 24–31 | R: bits 16–23 | G: bits 8–15 | B: bits 0–7 ]</a:t>
            </a:r>
            <a:endParaRPr lang="en-US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140C286-ADA9-4070-98FC-80A4B79976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56" t="28800" r="2980" b="18666"/>
          <a:stretch/>
        </p:blipFill>
        <p:spPr>
          <a:xfrm>
            <a:off x="684547" y="1752986"/>
            <a:ext cx="7592026" cy="270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22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COLOR EN GRÁFICOS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Clave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61872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26187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14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canal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075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 de bits para aislar cada componente de color del entero ARGB.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1033272"/>
            <a:ext cx="5166360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069848"/>
            <a:ext cx="4983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 = (argb &gt;&gt; 16) &amp; 0xFF;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 = (argb &gt;&gt;  8) &amp; 0xFF;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 argb        &amp; 0xFF;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261872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64008" cy="126187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386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grises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6791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 perceptual (luminancia) para convertir a escala de grises.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404872"/>
            <a:ext cx="5166360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441448"/>
            <a:ext cx="4983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gray = (int)(r*0.299 + g*0.587 + b*0.114);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 (255&lt;&lt;24)|(gray&lt;&lt;16)|(gray&lt;&lt;8)|gray;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1261872"/>
          </a:xfrm>
          <a:prstGeom prst="rect">
            <a:avLst/>
          </a:prstGeom>
          <a:solidFill>
            <a:srgbClr val="F4F8FC"/>
          </a:solidFill>
          <a:ln w="12700">
            <a:solidFill>
              <a:srgbClr val="E3EB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03320"/>
            <a:ext cx="64008" cy="126187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blending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405079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dos colores usando el canal Alpha para lograr transparencia.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776472"/>
            <a:ext cx="5166360" cy="10789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813048"/>
            <a:ext cx="49834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a = alpha / 255f;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out = (int)(a*src + (1-a)*dst);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A713E4-9CC4-4E5E-9667-F01C148F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75"/>
            <a:ext cx="9144000" cy="513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3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86EACBC-DAAD-416C-A1A1-345A5005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" y="0"/>
            <a:ext cx="914013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INTERPOLACIÓN EN PROFUNDIDAD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64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986449"/>
            <a:ext cx="8778240" cy="966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proyección perspectiva en 3D introduce distorsión en cómo varían los atributos a lo largo de un triángulo.</a:t>
            </a:r>
            <a:endParaRPr lang="en-US" sz="1400" b="1" dirty="0"/>
          </a:p>
          <a:p>
            <a:pPr marL="0" indent="0">
              <a:buNone/>
            </a:pPr>
            <a:endParaRPr lang="es-ES" sz="5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en profundidad o perspectiva corregida es la técnica que incorpora la profundidad (z) para ajustar esta interpolación.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1953805"/>
            <a:ext cx="8485632" cy="2948940"/>
          </a:xfrm>
          <a:prstGeom prst="rect">
            <a:avLst/>
          </a:prstGeom>
          <a:solidFill>
            <a:srgbClr val="F1FFF1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2987" y="2011681"/>
            <a:ext cx="8315253" cy="279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Debido a que la coordenada Z no varía linealmente en pantalla, no se puede interpolar directamente el valor de Z o cualquier atributo en espacio proyectado, la solución común es usar los recíprocos de la coordenada en cámara, (1/z) (o bien (1/w) tras la proyección), el procedimiento general es:</a:t>
            </a:r>
          </a:p>
          <a:p>
            <a:pPr marL="0" indent="0">
              <a:buNone/>
            </a:pPr>
            <a:endParaRPr lang="es-ES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9625" indent="-342900"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a cada vértice los atributos deseados (color, UV, normal) y su valor (w) tras la proyección.</a:t>
            </a:r>
          </a:p>
          <a:p>
            <a:pPr marL="809625" indent="-342900"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rasterizado, interpolar linealmente los valores multiplicados por (1/w) (que son lineales en espacio imagen) usando coordenadas </a:t>
            </a:r>
            <a:r>
              <a:rPr lang="es-E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baricéntricas</a:t>
            </a: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809625" indent="-342900">
              <a:buFont typeface="+mj-lt"/>
              <a:buAutoNum type="arabicPeriod"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el valor final dividiendo por el valor interpolado de (1/w) (deshaciendo la corrección de perspectiva).</a:t>
            </a:r>
          </a:p>
          <a:p>
            <a:pPr marL="0" indent="0">
              <a:buNone/>
            </a:pPr>
            <a:endParaRPr lang="es-ES" sz="7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y las coordenadas de textura de cada píxel se computan con interpolación perspectiva-correcta, evitando el estiramiento visual, primero se interpola los atributos en su forma “distorsionada” (multiplicados por (1/w)), luego al final los dividimos por (1/w) para restaurarlos.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28501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1E4186-87E7-448C-A7A1-2EADE21F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16"/>
            <a:ext cx="9144000" cy="503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16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3CF126-A7E0-44BC-AE6A-C58A98382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" y="0"/>
            <a:ext cx="91199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11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INTERPOLACIÓN EN PROFUNDIDAD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64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Interpolation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interpolar en profundidad?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rasterizar un triángulo, necesitamos estimar el valor Z (profundidad) y los atributos (UV, color) de cada fragmento interno. Sin corrección de perspectiva, los atributos se distorsionan.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2103120"/>
            <a:ext cx="4206240" cy="2688336"/>
          </a:xfrm>
          <a:prstGeom prst="rect">
            <a:avLst/>
          </a:prstGeom>
          <a:solidFill>
            <a:srgbClr val="FFF8F8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2103120"/>
            <a:ext cx="4206240" cy="47548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13969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Lineal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23591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Incorrecto en 3D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6700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 directamente entre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y v1 usando t ∈ [0,1]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715768"/>
            <a:ext cx="64008" cy="6400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401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en cuenta 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de la cámara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3447288"/>
            <a:ext cx="64008" cy="6400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distorsión visible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texturas y colores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4178808"/>
            <a:ext cx="64008" cy="6400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03120"/>
            <a:ext cx="4206240" cy="2688336"/>
          </a:xfrm>
          <a:prstGeom prst="rect">
            <a:avLst/>
          </a:prstGeom>
          <a:solidFill>
            <a:srgbClr val="F1FFF1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03120"/>
            <a:ext cx="420624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13969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Perspectiva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3591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Correcto en 3D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26700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atributos por W antes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interpolar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2715768"/>
            <a:ext cx="64008" cy="640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401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por W interpolado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recuperar valor real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3447288"/>
            <a:ext cx="64008" cy="640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texturas correctas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superficies 3D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4178808"/>
            <a:ext cx="64008" cy="640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8634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D5EDF1-A689-432D-85BC-EE061EF8F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9"/>
            <a:ext cx="9144000" cy="511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96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INTERPOLACIÓN EN PROFUNDIDAD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64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y Código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Corrección de Perspectiva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attr(t) = (attr0/w0 · (1−t)  +  attr1/w1 · t)  /  (1/w0 · (1−t)  +  1/w1 · 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 t ∈ [0,1]  es el parámetro de interpolación,  attr es el atributo (u, v, color),  w es el componente W del vértice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8595360" cy="2542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Interpolación con corrección de perspectiva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float perspCorrect(float a0, float a1, float w0, float w1, float t) {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09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oneOverW = (1f/w0)*(1-t) + (1f/w1)*t;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attrOverW = (a0/w0)*(1-t) + (a1/w1)*t;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014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attrOverW / oneOverW;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29A8F8-A535-4F03-9526-35409DDF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2"/>
            <a:ext cx="9144000" cy="513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83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W-BUFFERING (BUFFER DE PROFUNDIDAD W)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y Ventajas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W-Buffer?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246823"/>
            <a:ext cx="84124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w-</a:t>
            </a:r>
            <a:r>
              <a:rPr lang="es-E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r>
              <a:rPr lang="es-E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variante del z-</a:t>
            </a:r>
            <a:r>
              <a:rPr lang="es-E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r>
              <a:rPr lang="es-E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tradicional para gestionar la profundidad de los píxeles, en un buffer de profundidad normal (z-buffer) se almacena el valor de la coordenada Z de cada fragmento, lo que resuelve la visibilidad de objetos cercanos/faros, sin embargo, la precisión del z-buffer es no lineal en la distancia, el w-</a:t>
            </a:r>
            <a:r>
              <a:rPr lang="es-E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r>
              <a:rPr lang="es-E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almacena en su lugar el recíproco (1/w) o valores directamente relacionados con él, dado que estos valores se distribuyen más uniformemente entre las distancias cercanas y lejanas, el w-</a:t>
            </a:r>
            <a:r>
              <a:rPr lang="es-E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r>
              <a:rPr lang="es-E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mantiene una precisión más constante con la distancia.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607543"/>
            <a:ext cx="8412480" cy="2242248"/>
          </a:xfrm>
          <a:prstGeom prst="rect">
            <a:avLst/>
          </a:prstGeom>
          <a:solidFill>
            <a:srgbClr val="F4F8FC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07543"/>
            <a:ext cx="84124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354" y="2650834"/>
            <a:ext cx="475194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033" y="2676123"/>
            <a:ext cx="7598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5869" y="2659978"/>
            <a:ext cx="6965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W-Buffer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672" y="3149470"/>
            <a:ext cx="8178341" cy="1700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práctica, tanto z-buffer como w-buffer son matrices del tamaño de la pantalla donde guardamos la “profundidad” de cada píxel. En w-</a:t>
            </a:r>
            <a:r>
              <a:rPr lang="es-E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</a:t>
            </a: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esa profundidad que guardamos es (1/w) (o una función afín), por lo que al comparar profundidades comparamos estos valores </a:t>
            </a:r>
            <a:r>
              <a:rPr lang="es-E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reciprocales</a:t>
            </a: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 final, solo dibujamos un píxel si su valor (1/w) es menor (está más cerca) que el almacenado en el buffer, y actualizamos el buffer con el nuevo valor. En resumen:</a:t>
            </a:r>
          </a:p>
          <a:p>
            <a:pPr marL="0" indent="0">
              <a:buNone/>
            </a:pPr>
            <a:endParaRPr lang="es-ES" sz="11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5475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Z-Buffer almacena directamente la coordenada Z del fragmento.</a:t>
            </a:r>
          </a:p>
          <a:p>
            <a:pPr marL="625475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W-Buffer almacena el valor (1/w) (o similar), distribuyendo de modo más lineal la precisión en profundidad.</a:t>
            </a:r>
          </a:p>
          <a:p>
            <a:pPr marL="625475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W-buffer reduce artefactos en objetos lejanos al tener precisión más uniforme.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W-BUFFERING (BUFFER DE PROFUNDIDAD W)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y Ventajas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21224"/>
            <a:ext cx="8412480" cy="3292902"/>
          </a:xfrm>
          <a:prstGeom prst="rect">
            <a:avLst/>
          </a:prstGeom>
          <a:solidFill>
            <a:srgbClr val="F4F8FC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21225"/>
            <a:ext cx="84124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634" y="1264516"/>
            <a:ext cx="475194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313" y="1289805"/>
            <a:ext cx="7598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0149" y="1273660"/>
            <a:ext cx="6965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W-Buffer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952" y="1763151"/>
            <a:ext cx="8178341" cy="275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W-Buffer guarda 1/W por píxel para comparar profundidad. </a:t>
            </a:r>
          </a:p>
          <a:p>
            <a:pPr marL="0" indent="0">
              <a:buNone/>
            </a:pPr>
            <a:endParaRPr lang="es-ES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llega un fragmento con un valor mayor, significa que está más cerca y se dibuja; si no, se descarta. </a:t>
            </a:r>
          </a:p>
          <a:p>
            <a:pPr marL="0" indent="0">
              <a:buNone/>
            </a:pPr>
            <a:endParaRPr lang="es-ES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mantiene visible el objeto de adelante y se oculta correctamente el de atrás.</a:t>
            </a:r>
          </a:p>
          <a:p>
            <a:pPr marL="0" indent="0">
              <a:buNone/>
            </a:pPr>
            <a:endParaRPr lang="es-ES" sz="1400" dirty="0">
              <a:solidFill>
                <a:schemeClr val="tx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ES" sz="1400" dirty="0">
                <a:solidFill>
                  <a:schemeClr val="tx2">
                    <a:lumMod val="50000"/>
                  </a:schemeClr>
                </a:solidFill>
              </a:rPr>
              <a:t>La parte sin W-Buffer demuestra que el orden de dibujo afecta el resultado visual. </a:t>
            </a:r>
          </a:p>
          <a:p>
            <a:pPr marL="0" indent="0">
              <a:buNone/>
            </a:pPr>
            <a:r>
              <a:rPr lang="es-ES" sz="1400" dirty="0">
                <a:solidFill>
                  <a:schemeClr val="tx2">
                    <a:lumMod val="50000"/>
                  </a:schemeClr>
                </a:solidFill>
              </a:rPr>
              <a:t>Para que el error sea evidente, se dibuja primero el triángulo lejano y luego el cercano. </a:t>
            </a:r>
          </a:p>
          <a:p>
            <a:pPr marL="0" indent="0">
              <a:buNone/>
            </a:pPr>
            <a:endParaRPr lang="es-ES" sz="1400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s-ES" sz="1400" dirty="0">
                <a:solidFill>
                  <a:schemeClr val="tx2">
                    <a:lumMod val="50000"/>
                  </a:schemeClr>
                </a:solidFill>
              </a:rPr>
              <a:t>Además, existen dos convenciones válidas para profundidad: comparar W directamente o comparar 1/W; ambas funcionan si se usan de forma consistente.</a:t>
            </a: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271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W-BUFFERING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164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y Ventajas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W-Buffer?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W-Buffer guarda, para cada píxel, la profundidad del fragmento más cercano. Cuando llega un nuevo fragmento, se compara su valor con el que ya está guardado: si está más cerca, reemplaza al anterior. De esta forma, el objeto de adelante tapa correctamente al que está detrás.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2400" y="2121408"/>
            <a:ext cx="4251960" cy="2688336"/>
          </a:xfrm>
          <a:prstGeom prst="rect">
            <a:avLst/>
          </a:prstGeom>
          <a:solidFill>
            <a:srgbClr val="F4F8FC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400" y="2121408"/>
            <a:ext cx="42519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128" y="21762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12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328" y="2221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Z-Buffer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6992" y="277063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440" y="27066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z_ndc ∈ [−1, 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no-lineal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6992" y="350215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40" y="34381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precisión a distancias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(z-fighting)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6992" y="4233672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440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y rápido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hardware moderno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78680" y="2121408"/>
            <a:ext cx="4251960" cy="2688336"/>
          </a:xfrm>
          <a:prstGeom prst="rect">
            <a:avLst/>
          </a:prstGeom>
          <a:solidFill>
            <a:srgbClr val="F4F8FC"/>
          </a:solidFill>
          <a:ln w="1905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8680" y="2121408"/>
            <a:ext cx="425196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8408" y="21762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840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45608" y="2221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W-Buffer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3272" y="2770632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8720" y="27066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w = distancia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real a la cámara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3272" y="3502152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8720" y="34381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uniforme 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rango de visión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3272" y="4233672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8720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escenas con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rango de profundidad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94194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899EA6-4FA8-41EB-B69C-840FD90D2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1"/>
            <a:ext cx="9144000" cy="513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80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W-BUFFERING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852160" y="164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Java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4133088"/>
          </a:xfrm>
          <a:prstGeom prst="rect">
            <a:avLst/>
          </a:prstGeom>
          <a:solidFill>
            <a:srgbClr val="0D2137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9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W-Buffer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float[][] wBuffer;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W, H; // dimensiones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init(int w, int h) {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w; H = h;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wBuffer = new float[H][W];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clear();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clear()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(float[] row : wBuffer)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681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Arrays.fill(row, Float.MAX_VALUE);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992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914400"/>
            <a:ext cx="4480560" cy="4133088"/>
          </a:xfrm>
          <a:prstGeom prst="rect">
            <a:avLst/>
          </a:prstGeom>
          <a:solidFill>
            <a:srgbClr val="0D2137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C" dirty="0"/>
          </a:p>
        </p:txBody>
      </p:sp>
      <p:sp>
        <p:nvSpPr>
          <p:cNvPr id="21" name="Text 19"/>
          <p:cNvSpPr/>
          <p:nvPr/>
        </p:nvSpPr>
        <p:spPr>
          <a:xfrm>
            <a:off x="4480560" y="9692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Profundidad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8848" y="1261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testAndSet(int x, int y, float w)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98848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 &lt; wBuffer[y][x]) 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98848" y="1883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wBuffer[y][x] = w;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98848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 // dibujar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98848" y="2505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98848" y="2816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 // descartar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98848" y="3127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98848" y="3438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98848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 al rasterizar: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98848" y="4059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wFrag = interpolar(w0, w1, t);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98848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(wBuf.testAndSet(px, py, wFrag)) {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98848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screen.setRGB(px, py, color); }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98848" y="4992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6645DE-1458-4CC9-82F5-4AA5CC8D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91"/>
            <a:ext cx="9144000" cy="507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33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EJERCICIO PRÁCTICO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Rasterizador de Triángulo con Textura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programa Java que integra los 4 conceptos del taller.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4023360" cy="1261872"/>
          </a:xfrm>
          <a:prstGeom prst="rect">
            <a:avLst/>
          </a:prstGeom>
          <a:solidFill>
            <a:srgbClr val="0D2137"/>
          </a:solidFill>
          <a:ln w="6350">
            <a:solidFill>
              <a:srgbClr val="00B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 RGBA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e interpola canales R,G,B de los vértices.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74520"/>
            <a:ext cx="4023360" cy="1261872"/>
          </a:xfrm>
          <a:prstGeom prst="rect">
            <a:avLst/>
          </a:prstGeom>
          <a:solidFill>
            <a:srgbClr val="0D2137"/>
          </a:solidFill>
          <a:ln w="6350">
            <a:solidFill>
              <a:srgbClr val="00B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Textura UV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3591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una imagen y mapea texeles usando UV.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4023360" cy="1261872"/>
          </a:xfrm>
          <a:prstGeom prst="rect">
            <a:avLst/>
          </a:prstGeom>
          <a:solidFill>
            <a:srgbClr val="0D2137"/>
          </a:solidFill>
          <a:ln w="6350">
            <a:solidFill>
              <a:srgbClr val="00B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Depth Interp.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764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perspectiva en cada fragmento del triángulo.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4023360" cy="1261872"/>
          </a:xfrm>
          <a:prstGeom prst="rect">
            <a:avLst/>
          </a:prstGeom>
          <a:solidFill>
            <a:srgbClr val="0D2137"/>
          </a:solidFill>
          <a:ln w="6350">
            <a:solidFill>
              <a:srgbClr val="00B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W-Buffer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7764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fragmentos ocultos usando el W acumulado.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EJERCICIO PRÁCTICO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965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Rasterizador de Triángulo con Textura</a:t>
            </a:r>
            <a:endParaRPr lang="en-US" sz="28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F5763AB-8B1A-40E7-95B0-5B5C2A688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002" y="1190850"/>
            <a:ext cx="4758203" cy="372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69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EJERCICIO PARA LA CLASE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¡Tu turno!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" y="1091518"/>
            <a:ext cx="8595360" cy="3887390"/>
          </a:xfrm>
          <a:prstGeom prst="rect">
            <a:avLst/>
          </a:prstGeom>
          <a:solidFill>
            <a:srgbClr val="F4F8FC"/>
          </a:solidFill>
          <a:ln w="1524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8" name="Shape 6"/>
          <p:cNvSpPr/>
          <p:nvPr/>
        </p:nvSpPr>
        <p:spPr>
          <a:xfrm flipH="1">
            <a:off x="164593" y="1091517"/>
            <a:ext cx="45719" cy="3876805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64670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64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23656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Rasterizador</a:t>
            </a: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Cartel 3D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2336" y="1661452"/>
            <a:ext cx="8284464" cy="3419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700" dirty="0"/>
              <a:t>Desarrolle en Java un </a:t>
            </a:r>
            <a:r>
              <a:rPr lang="es-ES" sz="1700" dirty="0" err="1"/>
              <a:t>rasterizador</a:t>
            </a:r>
            <a:r>
              <a:rPr lang="es-ES" sz="1700" dirty="0"/>
              <a:t> interactivo que represente un cartel 3D construido con dos triángulos. </a:t>
            </a:r>
          </a:p>
          <a:p>
            <a:r>
              <a:rPr lang="es-ES" sz="1700" dirty="0"/>
              <a:t>El programa debe implementar </a:t>
            </a:r>
            <a:r>
              <a:rPr lang="es-ES" sz="1700" b="1" dirty="0"/>
              <a:t>coordenadas UV, interpolación de color por vértice, corrección de perspectiva mediante 1/W y W-</a:t>
            </a:r>
            <a:r>
              <a:rPr lang="es-ES" sz="1700" b="1" dirty="0" err="1"/>
              <a:t>Buffering</a:t>
            </a:r>
            <a:r>
              <a:rPr lang="es-ES" sz="1700" dirty="0"/>
              <a:t> para el manejo de profundidad.</a:t>
            </a:r>
          </a:p>
          <a:p>
            <a:endParaRPr lang="es-ES" sz="1700" dirty="0"/>
          </a:p>
          <a:p>
            <a:r>
              <a:rPr lang="es-ES" sz="1700" dirty="0"/>
              <a:t>El sistema deberá permitir cambiar entre los siguientes modos usando las teclas </a:t>
            </a:r>
            <a:r>
              <a:rPr lang="es-ES" sz="1700" b="1" dirty="0"/>
              <a:t>1 a 5</a:t>
            </a:r>
            <a:r>
              <a:rPr lang="es-ES" sz="17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dirty="0"/>
              <a:t>1:</a:t>
            </a:r>
            <a:r>
              <a:rPr lang="es-ES" sz="1700" dirty="0"/>
              <a:t> Mostrar únicamente la textura aplicada al cartel.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dirty="0"/>
              <a:t>2:</a:t>
            </a:r>
            <a:r>
              <a:rPr lang="es-ES" sz="1700" dirty="0"/>
              <a:t> Mostrar únicamente el color interpolado entre los vértices.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dirty="0"/>
              <a:t>3:</a:t>
            </a:r>
            <a:r>
              <a:rPr lang="es-ES" sz="1700" dirty="0"/>
              <a:t> Comparar interpolación lineal y corrección de perspectiva con 1/W.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dirty="0"/>
              <a:t>4:</a:t>
            </a:r>
            <a:r>
              <a:rPr lang="es-ES" sz="1700" dirty="0"/>
              <a:t> Mostrar dos carteles superpuestos para evidenciar el funcionamiento del W-Buffer.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700" b="1" dirty="0"/>
              <a:t>5:</a:t>
            </a:r>
            <a:r>
              <a:rPr lang="es-ES" sz="1700" dirty="0"/>
              <a:t> Mostrar la escena completa integrando textura, color, profundidad y ocultamiento correcto. </a:t>
            </a:r>
          </a:p>
          <a:p>
            <a:endParaRPr lang="es-ES" sz="17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EJERCICIO PARA LA CLASE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¡Tu turno!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" y="1091518"/>
            <a:ext cx="8595360" cy="3887390"/>
          </a:xfrm>
          <a:prstGeom prst="rect">
            <a:avLst/>
          </a:prstGeom>
          <a:solidFill>
            <a:srgbClr val="F4F8FC"/>
          </a:solidFill>
          <a:ln w="1524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8" name="Shape 6"/>
          <p:cNvSpPr/>
          <p:nvPr/>
        </p:nvSpPr>
        <p:spPr>
          <a:xfrm flipH="1">
            <a:off x="164593" y="1091517"/>
            <a:ext cx="45719" cy="3876805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6487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48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261620"/>
            <a:ext cx="2831549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Rasterizador</a:t>
            </a: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Cartel 3D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706" y="1911972"/>
            <a:ext cx="3488571" cy="188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b="1" dirty="0"/>
              <a:t>Resultado esperado</a:t>
            </a:r>
          </a:p>
          <a:p>
            <a:endParaRPr lang="es-ES" b="1" dirty="0"/>
          </a:p>
          <a:p>
            <a:pPr marL="450850" indent="-285750">
              <a:buFont typeface="Arial" panose="020B0604020202020204" pitchFamily="34" charset="0"/>
              <a:buChar char="•"/>
            </a:pPr>
            <a:r>
              <a:rPr lang="es-ES" dirty="0"/>
              <a:t>Una ventana interactiva donde se pueda observar visualmente cada técnica funcionando conjuntamente en una misma escena 3D.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B4B9D31-A28F-4021-AE8F-9E3DF4AAC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433" y="1070704"/>
            <a:ext cx="5032292" cy="39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36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C20FE3-875F-42E5-8406-6772E7CED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7"/>
            <a:ext cx="9144000" cy="511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70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2419</Words>
  <Application>Microsoft Office PowerPoint</Application>
  <PresentationFormat>Presentación en pantalla (16:9)</PresentationFormat>
  <Paragraphs>271</Paragraphs>
  <Slides>33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Gráficos por Computadora - Taller II</dc:title>
  <dc:subject>PptxGenJS Presentation</dc:subject>
  <dc:creator>PptxGenJS</dc:creator>
  <cp:lastModifiedBy>MARIELENA GONZALEZ SAN LUCAS</cp:lastModifiedBy>
  <cp:revision>13</cp:revision>
  <dcterms:created xsi:type="dcterms:W3CDTF">2026-06-07T16:47:28Z</dcterms:created>
  <dcterms:modified xsi:type="dcterms:W3CDTF">2026-06-09T20:20:29Z</dcterms:modified>
</cp:coreProperties>
</file>